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9F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560320"/>
            <a:ext cx="8229600" cy="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560320"/>
            <a:ext cx="7733294" cy="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2560320"/>
            <a:ext cx="6304239" cy="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560320"/>
            <a:ext cx="4114800" cy="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560320"/>
            <a:ext cx="1429055" cy="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560320"/>
            <a:ext cx="-1429055" cy="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560320"/>
            <a:ext cx="-4114800" cy="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560320"/>
            <a:ext cx="-6304239" cy="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60320"/>
            <a:ext cx="-7733294" cy="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60320"/>
            <a:ext cx="-8229600" cy="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60320"/>
            <a:ext cx="-7733294" cy="-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60320"/>
            <a:ext cx="-6304239" cy="-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560320"/>
            <a:ext cx="-4114800" cy="-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560320"/>
            <a:ext cx="-1429055" cy="-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560320"/>
            <a:ext cx="1429055" cy="-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560320"/>
            <a:ext cx="4114800" cy="-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560320"/>
            <a:ext cx="6304239" cy="-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560320"/>
            <a:ext cx="7733294" cy="-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914400"/>
            <a:ext cx="8229600" cy="3291840"/>
          </a:xfrm>
          <a:prstGeom prst="roundRect">
            <a:avLst>
              <a:gd name="adj" fmla="val 4167"/>
            </a:avLst>
          </a:prstGeom>
          <a:solidFill>
            <a:srgbClr val="0B5E82">
              <a:alpha val="80000"/>
            </a:srgbClr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MCT231 · BASICS OF MECHATRONICS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SpongeBob Educational Toy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Mechatronic System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160520" y="2880360"/>
            <a:ext cx="109728" cy="10972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2880360"/>
            <a:ext cx="109728" cy="109728"/>
          </a:xfrm>
          <a:prstGeom prst="ellipse">
            <a:avLst/>
          </a:prstGeom>
          <a:solidFill>
            <a:srgbClr val="A8D8F0"/>
          </a:solidFill>
          <a:ln w="12700">
            <a:solidFill>
              <a:srgbClr val="A8D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880360"/>
            <a:ext cx="109728" cy="109728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 Shams University · ICHEP · Final Submission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4B6B">
              <a:alpha val="90000"/>
            </a:srgbClr>
          </a:solidFill>
          <a:ln w="12700">
            <a:solidFill>
              <a:srgbClr val="1376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Mohamed Taha   ·   Nada Abdelhamid   ·   Mohamed Samy Taha   ·   Rawaa Tarig Algadi   ·   Farida Mohamed Saeed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6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SpongeBob-themed educational toy combining ball dispensing, lifting, shooting, and sorting with a closed-loop mechatronic control system. Children learn color recognition through an interactive Q&amp;A game while the system autonomously handles every ball cycle.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Color Recognition Game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identify ball colors using push buttons. LCD prompts the question; buzzer gives feedback.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 Closed-Loop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5603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sensors + optical encoder provide continuous feedback for reliable, automated operation.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📡  Bluetooth GUI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HC-06 module enables wireless monitoring &amp; control from a PC. Two Arduino Nanos via I²C.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Full Ball Lifecycle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9776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 → Lift → Shoot → Sort → Return. Complete cycle in ≤ 2.0 seconds per ball.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5E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Dual-controller distributed design with sense–process–actuate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0D4B6B"/>
          </a:solidFill>
          <a:ln w="254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NANO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 logic &amp; scoring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2037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LCD display (16×2 I²C)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HC-06 Bluetooth GUI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044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 Pink &amp; Yellow buttons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65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Buzzer feedback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886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Dispenser servo (IR)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926080"/>
            <a:ext cx="548640" cy="0"/>
          </a:xfrm>
          <a:prstGeom prst="line">
            <a:avLst/>
          </a:prstGeom>
          <a:noFill/>
          <a:ln w="31750">
            <a:solidFill>
              <a:srgbClr val="FFE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7432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23444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0D4B6B"/>
          </a:solidFill>
          <a:ln w="25400">
            <a:solidFill>
              <a:srgbClr val="A8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NANO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783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Lifting servo mechanism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2037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🏀 Shooting DC motor (L298N)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624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Optical encoder (PID)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0449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🔃 Sorting servo 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IR Sort Low / High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886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IR Shooting sensor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8412480" cy="320040"/>
          </a:xfrm>
          <a:prstGeom prst="roundRect">
            <a:avLst>
              <a:gd name="adj" fmla="val 20000"/>
            </a:avLst>
          </a:prstGeom>
          <a:solidFill>
            <a:srgbClr val="0D3447"/>
          </a:solidFill>
          <a:ln w="12700">
            <a:solidFill>
              <a:srgbClr val="1376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12V Li Battery → Buck Converter → 5V (logic / servos)    |    12V direct → DC Motor + L298N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B5E82"/>
          </a:solidFill>
          <a:ln w="12700">
            <a:solidFill>
              <a:srgbClr val="1A9F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411480" cy="41148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Dispense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releases one ball when IR sensor confirms presence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1528" y="1874520"/>
            <a:ext cx="146304" cy="0"/>
          </a:xfrm>
          <a:prstGeom prst="line">
            <a:avLst/>
          </a:prstGeom>
          <a:noFill/>
          <a:ln w="25400">
            <a:solidFill>
              <a:srgbClr val="0B5E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D7AB5"/>
          </a:solidFill>
          <a:ln w="12700">
            <a:solidFill>
              <a:srgbClr val="1A9F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43000"/>
            <a:ext cx="411480" cy="41148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143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Question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prompts child to identify the ball's color (pink/yellow)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07608" y="1874520"/>
            <a:ext cx="146304" cy="0"/>
          </a:xfrm>
          <a:prstGeom prst="line">
            <a:avLst/>
          </a:prstGeom>
          <a:noFill/>
          <a:ln w="25400">
            <a:solidFill>
              <a:srgbClr val="0B5E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143000"/>
            <a:ext cx="411480" cy="41148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11430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Mechanism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Belt-drive servo elevates ball at 0.5 m/s to shoot rail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B5E82"/>
          </a:solidFill>
          <a:ln w="12700">
            <a:solidFill>
              <a:srgbClr val="1A9F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063240"/>
            <a:ext cx="411480" cy="41148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063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 Shoot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N20 motor launches ball at ≈2.7 m/s, 35° angle, 30cm range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81528" y="3794760"/>
            <a:ext cx="146304" cy="0"/>
          </a:xfrm>
          <a:prstGeom prst="line">
            <a:avLst/>
          </a:prstGeom>
          <a:noFill/>
          <a:ln w="25400">
            <a:solidFill>
              <a:srgbClr val="0B5E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0D7AB5"/>
          </a:solidFill>
          <a:ln w="12700">
            <a:solidFill>
              <a:srgbClr val="1A9F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37560" y="3063240"/>
            <a:ext cx="411480" cy="41148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3063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Sort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IR sensors classify ball → servo gate opens left or right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07608" y="3794760"/>
            <a:ext cx="146304" cy="0"/>
          </a:xfrm>
          <a:prstGeom prst="line">
            <a:avLst/>
          </a:prstGeom>
          <a:noFill/>
          <a:ln w="25400">
            <a:solidFill>
              <a:srgbClr val="0B5E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297180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3063240"/>
            <a:ext cx="411480" cy="41148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66560" y="3063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Return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6364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slides to correct bin and returns to dispenser. Cycle ≤ 2.0s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5E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 SIZING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calculations for three core mechanisms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Lifting Mechanism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High-Torque Servo / NEMA-17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Factor ≈1.03×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2860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6334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incline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98094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torque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9809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4.84 N·m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32841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torque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328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3.16 N·m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6758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velocity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6758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m/s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SG90 ruled out — requires DS3218 or NEMA-17 with driver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09728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Shooting Mechanism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N20 DC Gear Motor (12V)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187452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Factor ≈1.27×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55848" y="22860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mass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286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g (PLA)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26334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length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55848" y="298094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9809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394–516 rpm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5848" y="332841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torque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328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0.0157 N·m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55848" y="36758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torque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6758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0.0070 N·m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37560" y="4069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margin 1.27×. Verify ball mass before finalizing.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109728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117043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Mechanism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792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Micro Servo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187452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1874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Factor ≈4.9×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228600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angle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22860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sweep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36208" y="263347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time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2633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36208" y="298094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torque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0" y="298094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0.00365 N·m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36208" y="332841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torque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0" y="3328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0.00165 N·m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36208" y="367588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rated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72400" y="367588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 N·m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4069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within rating. No upgrade required.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6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PROJECTILE MOTION CALCULATIONS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0B5E82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√[ (g · d²) / (2 · cos²(θ) · (d · tan(θ) − h))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Parameters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distance (d)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235915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30.76 cm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drop (h)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7432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angle (θ)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312724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112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(g)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3511296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9.81 m/s²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895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tan(35°)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3895344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0.700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cos(35°)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427939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0.819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233172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D6EEF8"/>
          </a:solidFill>
          <a:ln w="12700">
            <a:solidFill>
              <a:srgbClr val="C0DF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5915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9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m/s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09360" y="245059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Launch Velocity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20040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D6EEF8"/>
          </a:solidFill>
          <a:ln w="12700">
            <a:solidFill>
              <a:srgbClr val="C0D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2783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9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35°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09360" y="331927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Launch Angle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4069080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D6EEF8"/>
          </a:solidFill>
          <a:ln w="12700">
            <a:solidFill>
              <a:srgbClr val="C0DF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0965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9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1.21 m/s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09360" y="41879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Velocity (continuous duty)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5E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&amp;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IR_Dispenser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presence at gate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IR_Box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IR_Shooting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at launch cup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IR_Sort 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bit LOW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IR_Sort High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bit 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Encoder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speed (PID)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91440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1463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SG90 ×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16916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+ Dispenser servos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011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DS3218 / NEMA-17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240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mechanism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5603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N20 (12V, 400rpm)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27889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DC motor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H-Bridge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337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module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6576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I²C LCD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886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user feedback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4206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4434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feedback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914400"/>
            <a:ext cx="2651760" cy="4023360"/>
          </a:xfrm>
          <a:prstGeom prst="roundRect">
            <a:avLst>
              <a:gd name="adj" fmla="val 4138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BUDGET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14630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+ classify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82128" y="14630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0" y="201168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reset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82128" y="201168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17920" y="25603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to 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82128" y="256032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10896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shoot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82128" y="310896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 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17920" y="36576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reset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82128" y="365760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17920" y="42062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cycle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82128" y="4206240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2.0 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5029200"/>
            <a:ext cx="8412480" cy="18288"/>
          </a:xfrm>
          <a:prstGeom prst="roundRect">
            <a:avLst/>
          </a:prstGeom>
          <a:solidFill>
            <a:srgbClr val="1376A3"/>
          </a:solidFill>
          <a:ln w="12700">
            <a:solidFill>
              <a:srgbClr val="1376A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6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9FD4"/>
          </a:solidFill>
          <a:ln w="12700">
            <a:solidFill>
              <a:srgbClr val="1A9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SPECIFICATIONS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B5E82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≥95%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19/20 balls correct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B5E82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≤2.0s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Launch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B5E82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&lt;5cm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Variance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repeatability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7512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B5E82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0789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&lt;50ms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Response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detection latency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8412480" cy="25146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3383280"/>
              </a:tblGrid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gate 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Rotary gate alignment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velocity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2.7 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35° launch angle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Lifting peak velocity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m/s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Belt drive peak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Lifting peak torque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 N·m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Trapezoidal velocity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600×600 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desktop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1.5 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5,000 EGP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cost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5E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subsystem must pass unit tests before full integration proceeds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 Sensor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Ball detected within 50 ms   |   Oscilloscope / Serial Monitor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58568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585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Classification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≥ 19/20 balls correctly sorted   |   Manual run of 20 balls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18688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186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30906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Gate Rotation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Gate reaches ±5° of target   |   Protractor + servo feedback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78808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788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40507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Lifting Mechanism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Ball reaches top rail ≤ 0.4 s   |   Stopwatch timing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09728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298448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9844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11704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Shooting Accuracy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949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Ball lands within 5 cm of target   |   10-shot grouping test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05740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258568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585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2130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Cycle Integration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Cycle ≤ 2.0 s; zero jams   |   End-to-end timed × 10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017520"/>
            <a:ext cx="4160520" cy="822960"/>
          </a:xfrm>
          <a:prstGeom prst="roundRect">
            <a:avLst>
              <a:gd name="adj" fmla="val 11111"/>
            </a:avLst>
          </a:prstGeom>
          <a:solidFill>
            <a:srgbClr val="0D4B6B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218688"/>
            <a:ext cx="411480" cy="384048"/>
          </a:xfrm>
          <a:prstGeom prst="roundRect">
            <a:avLst>
              <a:gd name="adj" fmla="val 14286"/>
            </a:avLst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2186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30906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Operation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 consecutive cycles OK   |   Endurance run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6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MATERIALS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406908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457200"/>
                <a:gridCol w="1645920"/>
                <a:gridCol w="4114800"/>
              </a:tblGrid>
              <a:tr h="3390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82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Nano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(I²C, BT, LCD) + Slave (lift/shoot/sort)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SG90 Micro Servo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+ Dispenser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PWM-controlled, 4.9× safety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High-Torque Servo / NEMA-17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DS3218 class or NEMA-17 + 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N20 DC Gear Motor (12V)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Shooting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 rpm, stall ≈ 0.025 N·m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 H-Bridge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motor / 5V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Obstacle 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Dispenser, Box, Shooting, Sort Low/High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Optical Encoder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feedback for PID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HC-06 Bluetooth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PC GUI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I²C LCD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prompts &amp;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 Filament (~200g)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Frame, arm, gate, pulleys, balls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Li Battery + Buck Converter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Dual-rail: 12V motor / 5V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47548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0B5E82"/>
          </a:solidFill>
          <a:ln w="12700">
            <a:solidFill>
              <a:srgbClr val="1376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4773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total cost: &lt; 5,000 EGP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E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A7DA8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92440" y="1069848"/>
            <a:ext cx="475488" cy="420624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2440" y="106984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Mohamed Taha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23560" y="987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24P0050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mechanism design, projectile motion calculations, actuator sizing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0D6B96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92440" y="1901952"/>
            <a:ext cx="475488" cy="420624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90195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7922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Abdelhamid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23560" y="1819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2301102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1305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mechanism design, GUI development, system integration, LCD programming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A9FD4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2734056"/>
            <a:ext cx="475488" cy="420624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73405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624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Mohamed Samy Taha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24P0373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9626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fabrication, assembly, dispenser mechanism 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10712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0D6B96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3566160"/>
            <a:ext cx="475488" cy="420624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356616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456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Rawaa Tarig Algadi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2101367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design, wiring diagrams &amp; Arduino programming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242816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A7DA8"/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2440" y="4398264"/>
            <a:ext cx="475488" cy="420624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439826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2885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Farida Mohamed Saeed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4315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24P0008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62686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mechanism design, Arduino &amp; PID programming, CAD designs &amp; assembly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9F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2560320"/>
            <a:ext cx="8229600" cy="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2560320"/>
            <a:ext cx="7733294" cy="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2560320"/>
            <a:ext cx="6304239" cy="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560320"/>
            <a:ext cx="4114800" cy="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560320"/>
            <a:ext cx="1429055" cy="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560320"/>
            <a:ext cx="-1429055" cy="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560320"/>
            <a:ext cx="-4114800" cy="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560320"/>
            <a:ext cx="-6304239" cy="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60320"/>
            <a:ext cx="-7733294" cy="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60320"/>
            <a:ext cx="-8229600" cy="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60320"/>
            <a:ext cx="-7733294" cy="-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60320"/>
            <a:ext cx="-6304239" cy="-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560320"/>
            <a:ext cx="-4114800" cy="-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560320"/>
            <a:ext cx="-1429055" cy="-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560320"/>
            <a:ext cx="1429055" cy="-720406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560320"/>
            <a:ext cx="4114800" cy="-6335149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560320"/>
            <a:ext cx="6304239" cy="-4702120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560320"/>
            <a:ext cx="7733294" cy="-2501946"/>
          </a:xfrm>
          <a:prstGeom prst="line">
            <a:avLst/>
          </a:prstGeom>
          <a:noFill/>
          <a:ln w="19050">
            <a:solidFill>
              <a:srgbClr val="1EB8F5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57200"/>
            <a:ext cx="8229600" cy="4297680"/>
          </a:xfrm>
          <a:prstGeom prst="roundRect">
            <a:avLst>
              <a:gd name="adj" fmla="val 3191"/>
            </a:avLst>
          </a:prstGeom>
          <a:solidFill>
            <a:srgbClr val="0B5E82">
              <a:alpha val="85000"/>
            </a:srgbClr>
          </a:solidFill>
          <a:ln w="12700">
            <a:solidFill>
              <a:srgbClr val="1376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E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5800" y="123444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integrated mechanical, electrical, and software subsystems into one cohesive mechatronic product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1856232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Interactive color-recognition game demonstrates how mechatronics supports real educational objectives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2478024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Closed-loop PID control + sensor feedback ensures reliable autonomous operation every cycle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099816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Dual Arduino Nano architecture (I²C + Bluetooth) delivers modularity and wireless monitoring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372160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Completed within a 5,000 EGP budget using 3D-printed PLA/TPU structure on a 600×600mm base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MCT231 · Ain Shams University · ICHEP ·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SpongeBob Educational Toy — MCT231 Final Report</dc:title>
  <dc:subject>PptxGenJS Presentation</dc:subject>
  <dc:creator>PptxGenJS</dc:creator>
  <cp:lastModifiedBy>PptxGenJS</cp:lastModifiedBy>
  <cp:revision>1</cp:revision>
  <dcterms:created xsi:type="dcterms:W3CDTF">2026-06-11T03:46:20Z</dcterms:created>
  <dcterms:modified xsi:type="dcterms:W3CDTF">2026-06-11T03:46:20Z</dcterms:modified>
</cp:coreProperties>
</file>